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25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06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81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88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29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669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081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411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47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786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9062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8502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30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866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57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5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sz="4800" b="1" dirty="0">
                <a:solidFill>
                  <a:srgbClr val="FFC000"/>
                </a:solidFill>
                <a:latin typeface="Arial Black" panose="020B0A04020102020204" pitchFamily="34" charset="0"/>
              </a:rPr>
              <a:t>Introduction</a:t>
            </a:r>
            <a:r>
              <a:rPr sz="4800" b="1" dirty="0">
                <a:latin typeface="Arial Black" panose="020B0A04020102020204" pitchFamily="34" charset="0"/>
              </a:rPr>
              <a:t> to</a:t>
            </a:r>
            <a:r>
              <a:rPr sz="4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4800" b="1" dirty="0">
                <a:solidFill>
                  <a:srgbClr val="0070C0"/>
                </a:solidFill>
                <a:latin typeface="Arial Black" panose="020B0A04020102020204" pitchFamily="34" charset="0"/>
              </a:rP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Python is a popular programming language used for software, web, and automation.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A85E87-97F7-F9C1-F9DB-81B32B102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364" y="3042506"/>
            <a:ext cx="6175273" cy="342512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278" y="609600"/>
            <a:ext cx="8596668" cy="1052980"/>
          </a:xfrm>
        </p:spPr>
        <p:txBody>
          <a:bodyPr/>
          <a:lstStyle/>
          <a:p>
            <a:r>
              <a:rPr sz="4800" b="1" dirty="0">
                <a:solidFill>
                  <a:srgbClr val="FFC000"/>
                </a:solidFill>
                <a:latin typeface="Arial Black" panose="020B0A04020102020204" pitchFamily="34" charset="0"/>
              </a:rPr>
              <a:t>What</a:t>
            </a:r>
            <a:r>
              <a:rPr sz="4800" b="1" dirty="0">
                <a:latin typeface="Arial Black" panose="020B0A04020102020204" pitchFamily="34" charset="0"/>
              </a:rPr>
              <a:t> is </a:t>
            </a:r>
            <a:r>
              <a:rPr sz="4800" b="1" dirty="0">
                <a:solidFill>
                  <a:srgbClr val="0070C0"/>
                </a:solidFill>
                <a:latin typeface="Arial Black" panose="020B0A04020102020204" pitchFamily="34" charset="0"/>
              </a:rPr>
              <a:t>Python</a:t>
            </a:r>
            <a:r>
              <a:rPr b="1" dirty="0"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E7E003A-2B61-58F3-7C94-C76F9DF774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161280"/>
            <a:ext cx="635655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Python is a </a:t>
            </a:r>
            <a:r>
              <a:rPr lang="en-US" altLang="en-US" sz="2400" b="1" dirty="0">
                <a:latin typeface="Arial" panose="020B0604020202020204" pitchFamily="34" charset="0"/>
              </a:rPr>
              <a:t>high-level programming language</a:t>
            </a:r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altLang="en-US" sz="2400" i="1" dirty="0">
                <a:latin typeface="Arial" panose="020B0604020202020204" pitchFamily="34" charset="0"/>
              </a:rPr>
              <a:t>(Easy for humans to read and understand)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Developed by </a:t>
            </a:r>
            <a:r>
              <a:rPr lang="en-US" altLang="en-US" sz="2400" b="1" dirty="0">
                <a:latin typeface="Arial" panose="020B0604020202020204" pitchFamily="34" charset="0"/>
              </a:rPr>
              <a:t>Guido van Rossum</a:t>
            </a:r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altLang="en-US" sz="2400" i="1" dirty="0">
                <a:latin typeface="Arial" panose="020B0604020202020204" pitchFamily="34" charset="0"/>
              </a:rPr>
              <a:t>(Released in 1991)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Open-source and free</a:t>
            </a:r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altLang="en-US" sz="2400" i="1" dirty="0">
                <a:latin typeface="Arial" panose="020B0604020202020204" pitchFamily="34" charset="0"/>
              </a:rPr>
              <a:t>(Anyone can use and modify it)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7449D3-924D-9273-A88F-923F35B22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447" y="1798205"/>
            <a:ext cx="4478998" cy="42655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800" dirty="0"/>
              <a:t>Why </a:t>
            </a:r>
            <a:r>
              <a:rPr sz="4800" b="1" dirty="0">
                <a:solidFill>
                  <a:srgbClr val="0070C0"/>
                </a:solidFill>
                <a:latin typeface="Arial Black" panose="020B0A04020102020204" pitchFamily="34" charset="0"/>
              </a:rPr>
              <a:t>Python</a:t>
            </a:r>
            <a:r>
              <a:rPr sz="4800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/>
              <a:t>Easy syntax</a:t>
            </a:r>
            <a:r>
              <a:rPr lang="en-US" sz="2400" dirty="0"/>
              <a:t> , Simple English like syntax.</a:t>
            </a:r>
          </a:p>
          <a:p>
            <a:r>
              <a:rPr lang="en-US" sz="2400" dirty="0"/>
              <a:t>Easy to learn and read</a:t>
            </a:r>
            <a:endParaRPr sz="2400" dirty="0"/>
          </a:p>
          <a:p>
            <a:r>
              <a:rPr sz="2400" dirty="0"/>
              <a:t>Beginner friendly</a:t>
            </a:r>
          </a:p>
          <a:p>
            <a:r>
              <a:rPr sz="2400" dirty="0"/>
              <a:t>Less code</a:t>
            </a:r>
            <a:endParaRPr lang="en-US" sz="2400" dirty="0"/>
          </a:p>
          <a:p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14633"/>
            <a:ext cx="8596668" cy="1320800"/>
          </a:xfrm>
        </p:spPr>
        <p:txBody>
          <a:bodyPr anchor="ctr">
            <a:normAutofit/>
          </a:bodyPr>
          <a:lstStyle/>
          <a:p>
            <a:pPr algn="ctr"/>
            <a:r>
              <a:rPr sz="4800" b="1" dirty="0">
                <a:solidFill>
                  <a:srgbClr val="FFC000"/>
                </a:solidFill>
                <a:latin typeface="Arial Black" panose="020B0A04020102020204" pitchFamily="34" charset="0"/>
              </a:rPr>
              <a:t>Features</a:t>
            </a:r>
            <a:r>
              <a:rPr sz="4800" dirty="0"/>
              <a:t> of </a:t>
            </a:r>
            <a:r>
              <a:rPr sz="4800" b="1" dirty="0">
                <a:solidFill>
                  <a:srgbClr val="0070C0"/>
                </a:solidFill>
                <a:latin typeface="Arial Black" panose="020B0A04020102020204" pitchFamily="34" charset="0"/>
              </a:rP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2160589"/>
            <a:ext cx="9513801" cy="3880773"/>
          </a:xfrm>
        </p:spPr>
        <p:txBody>
          <a:bodyPr/>
          <a:lstStyle/>
          <a:p>
            <a:r>
              <a:rPr sz="2000" dirty="0"/>
              <a:t>Interpreted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	- Python executes code line by line</a:t>
            </a:r>
            <a:endParaRPr sz="2000" dirty="0"/>
          </a:p>
          <a:p>
            <a:r>
              <a:rPr sz="2000" dirty="0"/>
              <a:t>Dynamically typed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	- No need to declare variable types.</a:t>
            </a:r>
          </a:p>
          <a:p>
            <a:pPr marL="0" indent="0">
              <a:buNone/>
            </a:pPr>
            <a:r>
              <a:rPr lang="en-US" sz="2000" dirty="0"/>
              <a:t>	- Python decides the type at runtime.</a:t>
            </a:r>
            <a:endParaRPr sz="2000" dirty="0"/>
          </a:p>
          <a:p>
            <a:r>
              <a:rPr sz="2000" dirty="0"/>
              <a:t>Object-oriented</a:t>
            </a:r>
            <a:endParaRPr lang="en-US" sz="2000" dirty="0"/>
          </a:p>
          <a:p>
            <a:r>
              <a:rPr lang="en-US" sz="2000" dirty="0"/>
              <a:t>Platform Independent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000" dirty="0"/>
              <a:t>- Python programs run on Windows, Linux, and macOS without modification</a:t>
            </a:r>
            <a:r>
              <a:rPr lang="en-US" dirty="0"/>
              <a:t>.</a:t>
            </a:r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800" dirty="0"/>
              <a:t>Where </a:t>
            </a:r>
            <a:r>
              <a:rPr sz="4800" b="1" dirty="0">
                <a:solidFill>
                  <a:srgbClr val="0070C0"/>
                </a:solidFill>
                <a:latin typeface="Arial Black" panose="020B0A04020102020204" pitchFamily="34" charset="0"/>
              </a:rPr>
              <a:t>Python</a:t>
            </a:r>
            <a:r>
              <a:rPr sz="4800" dirty="0"/>
              <a:t> is </a:t>
            </a:r>
            <a:r>
              <a:rPr sz="4800" b="1" dirty="0">
                <a:solidFill>
                  <a:srgbClr val="FFC000"/>
                </a:solidFill>
                <a:latin typeface="Arial Black" panose="020B0A04020102020204" pitchFamily="34" charset="0"/>
              </a:rPr>
              <a:t>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DBFF7-DCFA-40D0-B0D0-60573CBDCF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3353" y="2265476"/>
            <a:ext cx="10905293" cy="367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Web Development (Django, Flask)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Data Science &amp; Data Analysis (NumPy, Pandas, Matplotlib)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Artificial Intelligence &amp; Machine Learning (TensorFlow, PyTorch, Scikit-learn)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Game Development (Pygame)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Desktop Applications (Tkinter, PyQt, Kivy)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sz="4800" dirty="0">
                <a:solidFill>
                  <a:srgbClr val="0070C0"/>
                </a:solidFill>
                <a:latin typeface="Arial Black" panose="020B0A04020102020204" pitchFamily="34" charset="0"/>
              </a:rPr>
              <a:t>Python</a:t>
            </a:r>
            <a:r>
              <a:rPr sz="4800" dirty="0">
                <a:latin typeface="Arial Black" panose="020B0A04020102020204" pitchFamily="34" charset="0"/>
              </a:rPr>
              <a:t> vs Other Languages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EF9681-6709-D0F2-FD23-8AC3C9334A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3" y="2094271"/>
            <a:ext cx="9484305" cy="34806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altLang="en-US" sz="2400" dirty="0"/>
              <a:t>Python has simple and readable syntax; others are more complex.</a:t>
            </a:r>
          </a:p>
          <a:p>
            <a:r>
              <a:rPr lang="en-US" altLang="en-US" sz="2400" dirty="0"/>
              <a:t>Python uses less code; others need more lines.</a:t>
            </a:r>
          </a:p>
          <a:p>
            <a:r>
              <a:rPr lang="en-US" altLang="en-US" sz="2400" dirty="0"/>
              <a:t>Python is easy for beginners; others have a steeper learning curve.</a:t>
            </a:r>
          </a:p>
          <a:p>
            <a:r>
              <a:rPr lang="en-US" altLang="en-US" sz="2400" dirty="0"/>
              <a:t>Python is interpreted; others are usually compiled.</a:t>
            </a:r>
          </a:p>
          <a:p>
            <a:r>
              <a:rPr lang="en-US" altLang="en-US" sz="2400" dirty="0"/>
              <a:t>Python has rich libraries; others have limited built-in support.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800" dirty="0">
                <a:solidFill>
                  <a:srgbClr val="0070C0"/>
                </a:solidFill>
                <a:latin typeface="Arial Black" panose="020B0A04020102020204" pitchFamily="34" charset="0"/>
              </a:rPr>
              <a:t>Python</a:t>
            </a:r>
            <a:r>
              <a:rPr sz="4800" dirty="0">
                <a:latin typeface="Arial Black" panose="020B0A04020102020204" pitchFamily="34" charset="0"/>
              </a:rPr>
              <a:t> Installation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CC5BB3-6C86-E745-C966-D966A88553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3" y="2300748"/>
            <a:ext cx="7345789" cy="30262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altLang="en-US" sz="2400"/>
              <a:t>Download Python from www.python.org</a:t>
            </a:r>
          </a:p>
          <a:p>
            <a:r>
              <a:rPr lang="en-US" altLang="en-US" sz="2400"/>
              <a:t>Run the installer</a:t>
            </a:r>
          </a:p>
          <a:p>
            <a:r>
              <a:rPr lang="en-US" altLang="en-US" sz="2400"/>
              <a:t>Check “Add Python to PATH”</a:t>
            </a:r>
          </a:p>
          <a:p>
            <a:r>
              <a:rPr lang="en-US" altLang="en-US" sz="2400"/>
              <a:t>Click Install Now</a:t>
            </a:r>
          </a:p>
          <a:p>
            <a:r>
              <a:rPr lang="en-US" altLang="en-US" sz="2400"/>
              <a:t>Verify installation using python --version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800" dirty="0">
                <a:solidFill>
                  <a:srgbClr val="0070C0"/>
                </a:solidFill>
                <a:latin typeface="Arial Black" panose="020B0A04020102020204" pitchFamily="34" charset="0"/>
              </a:rPr>
              <a:t>Python</a:t>
            </a:r>
            <a:r>
              <a:rPr sz="4800" dirty="0">
                <a:latin typeface="Arial Black" panose="020B0A04020102020204" pitchFamily="34" charset="0"/>
              </a:rPr>
              <a:t> Execution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6044" y="2396563"/>
            <a:ext cx="8761634" cy="2883359"/>
          </a:xfrm>
        </p:spPr>
        <p:txBody>
          <a:bodyPr>
            <a:normAutofit/>
          </a:bodyPr>
          <a:lstStyle/>
          <a:p>
            <a:r>
              <a:rPr sz="2400" dirty="0">
                <a:latin typeface="Arial Black" panose="020B0A04020102020204" pitchFamily="34" charset="0"/>
              </a:rPr>
              <a:t>Interactive Mode</a:t>
            </a:r>
            <a:endParaRPr lang="en-US" sz="24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 Black" panose="020B0A04020102020204" pitchFamily="34" charset="0"/>
              </a:rPr>
              <a:t>	- </a:t>
            </a:r>
            <a:r>
              <a:rPr lang="en-US" sz="2400" dirty="0"/>
              <a:t>Run Python commands one by one in the Python shell.</a:t>
            </a:r>
            <a:endParaRPr sz="2400" dirty="0">
              <a:latin typeface="Arial Black" panose="020B0A04020102020204" pitchFamily="34" charset="0"/>
            </a:endParaRPr>
          </a:p>
          <a:p>
            <a:r>
              <a:rPr sz="2400" dirty="0">
                <a:latin typeface="Arial Black" panose="020B0A04020102020204" pitchFamily="34" charset="0"/>
              </a:rPr>
              <a:t>Script Mode</a:t>
            </a:r>
            <a:endParaRPr lang="en-US" sz="24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 Black" panose="020B0A04020102020204" pitchFamily="34" charset="0"/>
              </a:rPr>
              <a:t>	- </a:t>
            </a:r>
            <a:r>
              <a:rPr lang="en-US" sz="2400" dirty="0"/>
              <a:t>Write code in a .</a:t>
            </a:r>
            <a:r>
              <a:rPr lang="en-US" sz="2400" dirty="0" err="1"/>
              <a:t>py</a:t>
            </a:r>
            <a:r>
              <a:rPr lang="en-US" sz="2400" dirty="0"/>
              <a:t> file and run it as a program.</a:t>
            </a:r>
            <a:endParaRPr sz="2400" dirty="0">
              <a:latin typeface="Arial Black" panose="020B0A040201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800" dirty="0">
                <a:latin typeface="Arial Black" panose="020B0A04020102020204" pitchFamily="34" charset="0"/>
              </a:rPr>
              <a:t>First </a:t>
            </a:r>
            <a:r>
              <a:rPr sz="4800" dirty="0">
                <a:solidFill>
                  <a:srgbClr val="0070C0"/>
                </a:solidFill>
                <a:latin typeface="Arial Black" panose="020B0A04020102020204" pitchFamily="34" charset="0"/>
              </a:rPr>
              <a:t>Python</a:t>
            </a:r>
            <a:r>
              <a:rPr sz="4800" dirty="0">
                <a:latin typeface="Arial Black" panose="020B0A04020102020204" pitchFamily="34" charset="0"/>
              </a:rPr>
              <a:t>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4250" y="2274914"/>
            <a:ext cx="5295763" cy="2308172"/>
          </a:xfrm>
        </p:spPr>
        <p:txBody>
          <a:bodyPr/>
          <a:lstStyle/>
          <a:p>
            <a:r>
              <a:rPr sz="2400" dirty="0">
                <a:latin typeface="Arial Black" panose="020B0A04020102020204" pitchFamily="34" charset="0"/>
              </a:rPr>
              <a:t>print('Hello World’)</a:t>
            </a:r>
            <a:endParaRPr lang="en-US" sz="24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dirty="0"/>
              <a:t>print() </a:t>
            </a:r>
            <a:r>
              <a:rPr lang="en-US" dirty="0">
                <a:sym typeface="Wingdings" panose="05000000000000000000" pitchFamily="2" charset="2"/>
              </a:rPr>
              <a:t> displays output on the screen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“Hello World”  message to be shown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39773"/>
            <a:ext cx="8596668" cy="953729"/>
          </a:xfrm>
        </p:spPr>
        <p:txBody>
          <a:bodyPr>
            <a:normAutofit/>
          </a:bodyPr>
          <a:lstStyle/>
          <a:p>
            <a:pPr algn="ctr"/>
            <a:r>
              <a:rPr sz="4800" dirty="0">
                <a:latin typeface="Arial Black" panose="020B0A04020102020204" pitchFamily="34" charset="0"/>
              </a:rPr>
              <a:t>Variables in </a:t>
            </a:r>
            <a:r>
              <a:rPr sz="4800" dirty="0">
                <a:solidFill>
                  <a:srgbClr val="0070C0"/>
                </a:solidFill>
                <a:latin typeface="Arial Black" panose="020B0A04020102020204" pitchFamily="34" charset="0"/>
              </a:rP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0068" y="2392207"/>
            <a:ext cx="8953364" cy="3566141"/>
          </a:xfrm>
        </p:spPr>
        <p:txBody>
          <a:bodyPr>
            <a:normAutofit/>
          </a:bodyPr>
          <a:lstStyle/>
          <a:p>
            <a:r>
              <a:rPr lang="en-US" sz="2400" b="1" i="1" dirty="0"/>
              <a:t>Variables</a:t>
            </a:r>
            <a:r>
              <a:rPr lang="en-US" sz="2400" dirty="0"/>
              <a:t> are </a:t>
            </a:r>
            <a:r>
              <a:rPr lang="en-US" sz="2400" b="1" i="1" dirty="0"/>
              <a:t>containers for storing data values.</a:t>
            </a:r>
          </a:p>
          <a:p>
            <a:r>
              <a:rPr lang="en-US" sz="2400" dirty="0"/>
              <a:t>In Python, there is </a:t>
            </a:r>
            <a:r>
              <a:rPr lang="en-US" sz="2400" b="1" i="1" dirty="0"/>
              <a:t>no special command</a:t>
            </a:r>
            <a:r>
              <a:rPr lang="en-US" sz="2400" dirty="0"/>
              <a:t> to declare a variable.</a:t>
            </a:r>
            <a:br>
              <a:rPr lang="en-US" sz="2400" dirty="0"/>
            </a:br>
            <a:r>
              <a:rPr lang="en-US" sz="2400" dirty="0"/>
              <a:t>A variable is </a:t>
            </a:r>
            <a:r>
              <a:rPr lang="en-US" sz="2400" b="1" i="1" dirty="0"/>
              <a:t>created automatically</a:t>
            </a:r>
            <a:r>
              <a:rPr lang="en-US" sz="2400" dirty="0"/>
              <a:t> when you </a:t>
            </a:r>
            <a:r>
              <a:rPr lang="en-US" sz="2400" b="1" i="1" dirty="0"/>
              <a:t>first assign a value</a:t>
            </a:r>
            <a:r>
              <a:rPr lang="en-US" sz="2400" dirty="0"/>
              <a:t> to it.</a:t>
            </a:r>
          </a:p>
          <a:p>
            <a:r>
              <a:rPr lang="en-US" sz="2400" dirty="0"/>
              <a:t>No need to declare the data type.</a:t>
            </a:r>
          </a:p>
          <a:p>
            <a:r>
              <a:rPr lang="en-US" sz="2400" dirty="0"/>
              <a:t>Value can change any time.</a:t>
            </a:r>
            <a:endParaRPr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rgbClr val="0070C0"/>
                </a:solidFill>
                <a:latin typeface="Arial Black" panose="020B0A04020102020204" pitchFamily="34" charset="0"/>
              </a:rPr>
              <a:t>Python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sz="4800" dirty="0">
                <a:latin typeface="Arial Black" panose="020B0A04020102020204" pitchFamily="34" charset="0"/>
              </a:rPr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2239" y="2230668"/>
            <a:ext cx="7581763" cy="2396663"/>
          </a:xfrm>
        </p:spPr>
        <p:txBody>
          <a:bodyPr/>
          <a:lstStyle/>
          <a:p>
            <a:r>
              <a:rPr lang="en-US" sz="2400" dirty="0">
                <a:latin typeface="Arial Black" panose="020B0A04020102020204" pitchFamily="34" charset="0"/>
              </a:rPr>
              <a:t>i</a:t>
            </a:r>
            <a:r>
              <a:rPr sz="2400" dirty="0">
                <a:latin typeface="Arial Black" panose="020B0A04020102020204" pitchFamily="34" charset="0"/>
              </a:rPr>
              <a:t>nt</a:t>
            </a:r>
            <a:r>
              <a:rPr lang="en-US" sz="2400" dirty="0">
                <a:latin typeface="Arial Black" panose="020B0A04020102020204" pitchFamily="34" charset="0"/>
              </a:rPr>
              <a:t> </a:t>
            </a:r>
            <a:r>
              <a:rPr lang="en-US" dirty="0"/>
              <a:t>– </a:t>
            </a:r>
            <a:r>
              <a:rPr lang="en-US" sz="2400" dirty="0"/>
              <a:t>integer number (….-3,-4,0,4,5,23…..)</a:t>
            </a:r>
            <a:endParaRPr sz="2400" dirty="0"/>
          </a:p>
          <a:p>
            <a:r>
              <a:rPr lang="en-US" sz="2400" dirty="0">
                <a:latin typeface="Arial Black" panose="020B0A04020102020204" pitchFamily="34" charset="0"/>
              </a:rPr>
              <a:t>f</a:t>
            </a:r>
            <a:r>
              <a:rPr sz="2400" dirty="0">
                <a:latin typeface="Arial Black" panose="020B0A04020102020204" pitchFamily="34" charset="0"/>
              </a:rPr>
              <a:t>loat</a:t>
            </a:r>
            <a:r>
              <a:rPr lang="en-US" sz="2400" dirty="0">
                <a:latin typeface="Arial Black" panose="020B0A04020102020204" pitchFamily="34" charset="0"/>
              </a:rPr>
              <a:t> - </a:t>
            </a:r>
            <a:r>
              <a:rPr lang="en-US" sz="2400" dirty="0"/>
              <a:t>decimal numbers (10.5, 3.14)</a:t>
            </a:r>
            <a:endParaRPr sz="2400" dirty="0">
              <a:latin typeface="Arial Black" panose="020B0A04020102020204" pitchFamily="34" charset="0"/>
            </a:endParaRPr>
          </a:p>
          <a:p>
            <a:r>
              <a:rPr lang="en-US" sz="2400" dirty="0">
                <a:latin typeface="Arial Black" panose="020B0A04020102020204" pitchFamily="34" charset="0"/>
              </a:rPr>
              <a:t>s</a:t>
            </a:r>
            <a:r>
              <a:rPr sz="2400" dirty="0">
                <a:latin typeface="Arial Black" panose="020B0A04020102020204" pitchFamily="34" charset="0"/>
              </a:rPr>
              <a:t>tr</a:t>
            </a:r>
            <a:r>
              <a:rPr lang="en-US" sz="2400" dirty="0">
                <a:latin typeface="Arial Black" panose="020B0A04020102020204" pitchFamily="34" charset="0"/>
              </a:rPr>
              <a:t> - </a:t>
            </a:r>
            <a:r>
              <a:rPr lang="en-US" sz="2400" dirty="0"/>
              <a:t>text values ("Python")</a:t>
            </a:r>
            <a:endParaRPr sz="2400" dirty="0">
              <a:latin typeface="Arial Black" panose="020B0A04020102020204" pitchFamily="34" charset="0"/>
            </a:endParaRPr>
          </a:p>
          <a:p>
            <a:r>
              <a:rPr lang="en-US" sz="2400" dirty="0">
                <a:latin typeface="Arial Black" panose="020B0A04020102020204" pitchFamily="34" charset="0"/>
              </a:rPr>
              <a:t>b</a:t>
            </a:r>
            <a:r>
              <a:rPr sz="2400" dirty="0">
                <a:latin typeface="Arial Black" panose="020B0A04020102020204" pitchFamily="34" charset="0"/>
              </a:rPr>
              <a:t>ool</a:t>
            </a:r>
            <a:r>
              <a:rPr lang="en-US" sz="2400" dirty="0">
                <a:latin typeface="Arial Black" panose="020B0A04020102020204" pitchFamily="34" charset="0"/>
              </a:rPr>
              <a:t> - </a:t>
            </a:r>
            <a:r>
              <a:rPr lang="en-US" sz="2400" dirty="0"/>
              <a:t>True or False</a:t>
            </a:r>
            <a:endParaRPr sz="24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9454808" cy="1320800"/>
          </a:xfrm>
        </p:spPr>
        <p:txBody>
          <a:bodyPr>
            <a:noAutofit/>
          </a:bodyPr>
          <a:lstStyle/>
          <a:p>
            <a:pPr algn="ctr"/>
            <a:r>
              <a:rPr sz="4800" dirty="0">
                <a:latin typeface="Arial Black" panose="020B0A04020102020204" pitchFamily="34" charset="0"/>
              </a:rPr>
              <a:t>Input and Output</a:t>
            </a:r>
            <a:r>
              <a:rPr lang="en-US" sz="4800" dirty="0">
                <a:latin typeface="Arial Black" panose="020B0A04020102020204" pitchFamily="34" charset="0"/>
              </a:rPr>
              <a:t> in </a:t>
            </a:r>
            <a:r>
              <a:rPr lang="en-US" sz="4800" dirty="0">
                <a:solidFill>
                  <a:srgbClr val="0070C0"/>
                </a:solidFill>
                <a:latin typeface="Arial Black" panose="020B0A04020102020204" pitchFamily="34" charset="0"/>
              </a:rPr>
              <a:t>Python</a:t>
            </a:r>
            <a:endParaRPr sz="48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Arial Black" panose="020B0A04020102020204" pitchFamily="34" charset="0"/>
              </a:rPr>
              <a:t>input() </a:t>
            </a:r>
            <a:r>
              <a:rPr sz="2800" dirty="0"/>
              <a:t>takes input</a:t>
            </a:r>
            <a:r>
              <a:rPr lang="en-US" sz="2800" dirty="0"/>
              <a:t> from user (by default string)</a:t>
            </a:r>
          </a:p>
          <a:p>
            <a:pPr marL="457200" lvl="1" indent="0">
              <a:buNone/>
            </a:pPr>
            <a:r>
              <a:rPr lang="en-US" sz="2800" dirty="0"/>
              <a:t>Var = input(“Enter your name”)</a:t>
            </a:r>
            <a:endParaRPr sz="2800" dirty="0"/>
          </a:p>
          <a:p>
            <a:r>
              <a:rPr sz="2800" dirty="0">
                <a:latin typeface="Arial Black" panose="020B0A04020102020204" pitchFamily="34" charset="0"/>
              </a:rPr>
              <a:t>print() </a:t>
            </a:r>
            <a:r>
              <a:rPr sz="2800" dirty="0"/>
              <a:t>shows output</a:t>
            </a:r>
            <a:endParaRPr lang="en-US" sz="2800" dirty="0"/>
          </a:p>
          <a:p>
            <a:pPr marL="457200" lvl="1" indent="0">
              <a:buNone/>
            </a:pPr>
            <a:r>
              <a:rPr lang="en-US" sz="2800" dirty="0"/>
              <a:t>print(Var)</a:t>
            </a:r>
            <a:endParaRPr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dirty="0">
                <a:latin typeface="Arial Black" panose="020B0A04020102020204" pitchFamily="34" charset="0"/>
              </a:rPr>
              <a:t>Simple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= 10</a:t>
            </a:r>
          </a:p>
          <a:p>
            <a:r>
              <a:rPr dirty="0"/>
              <a:t>b = 20</a:t>
            </a:r>
          </a:p>
          <a:p>
            <a:r>
              <a:rPr dirty="0"/>
              <a:t>print(a + b)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800" dirty="0">
                <a:latin typeface="Arial Black" panose="020B0A04020102020204" pitchFamily="34" charset="0"/>
              </a:rPr>
              <a:t>Advantages of </a:t>
            </a:r>
            <a:r>
              <a:rPr sz="4800" dirty="0">
                <a:solidFill>
                  <a:srgbClr val="0070C0"/>
                </a:solidFill>
                <a:latin typeface="Arial Black" panose="020B0A04020102020204" pitchFamily="34" charset="0"/>
              </a:rPr>
              <a:t>Python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CBF7E2-8339-5A3F-E8CB-AFA301CD02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626216"/>
            <a:ext cx="9846029" cy="2949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en-US" sz="2400" b="1" i="1"/>
              <a:t>Easy to learn and read – beginner-friendly syntax</a:t>
            </a:r>
          </a:p>
          <a:p>
            <a:r>
              <a:rPr lang="en-US" altLang="en-US" sz="2400" b="1" i="1"/>
              <a:t>High-level language – handles complex tasks automatically</a:t>
            </a:r>
          </a:p>
          <a:p>
            <a:r>
              <a:rPr lang="en-US" altLang="en-US" sz="2400" b="1" i="1"/>
              <a:t>Cross-platform – works on Windows, Linux, macOS</a:t>
            </a:r>
          </a:p>
          <a:p>
            <a:r>
              <a:rPr lang="en-US" altLang="en-US" sz="2400" b="1" i="1"/>
              <a:t>Large libraries – ready-to-use modules for many tasks</a:t>
            </a:r>
          </a:p>
          <a:p>
            <a:r>
              <a:rPr lang="en-US" altLang="en-US" sz="2400" b="1" i="1"/>
              <a:t>Open-source – free to use and distribute</a:t>
            </a:r>
          </a:p>
          <a:p>
            <a:r>
              <a:rPr lang="en-US" altLang="en-US" sz="2400" b="1" i="1"/>
              <a:t>Versatile – used in web, AI, data science, automation, and more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800" dirty="0">
                <a:latin typeface="Arial Black" panose="020B0A04020102020204" pitchFamily="34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Python is easy</a:t>
            </a:r>
          </a:p>
          <a:p>
            <a:r>
              <a:rPr sz="2400" dirty="0"/>
              <a:t>Beginner friendly</a:t>
            </a:r>
          </a:p>
          <a:p>
            <a:r>
              <a:rPr sz="2400" dirty="0"/>
              <a:t>Powerful language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129</TotalTime>
  <Words>530</Words>
  <Application>Microsoft Office PowerPoint</Application>
  <PresentationFormat>Widescreen</PresentationFormat>
  <Paragraphs>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Trebuchet MS</vt:lpstr>
      <vt:lpstr>Wingdings</vt:lpstr>
      <vt:lpstr>Wingdings 3</vt:lpstr>
      <vt:lpstr>Facet</vt:lpstr>
      <vt:lpstr>Introduction to Python</vt:lpstr>
      <vt:lpstr>What is Python?</vt:lpstr>
      <vt:lpstr>Why Python?</vt:lpstr>
      <vt:lpstr>Features of Python</vt:lpstr>
      <vt:lpstr>Where Python is Used</vt:lpstr>
      <vt:lpstr>Python vs Other Languages</vt:lpstr>
      <vt:lpstr>Python Installation</vt:lpstr>
      <vt:lpstr>Python Execution Modes</vt:lpstr>
      <vt:lpstr>First Python Program</vt:lpstr>
      <vt:lpstr>Variables in Python</vt:lpstr>
      <vt:lpstr>Python Data Types</vt:lpstr>
      <vt:lpstr>Input and Output in Python</vt:lpstr>
      <vt:lpstr>Simple Example</vt:lpstr>
      <vt:lpstr>Advantages of Python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junaid alam</cp:lastModifiedBy>
  <cp:revision>4</cp:revision>
  <dcterms:created xsi:type="dcterms:W3CDTF">2013-01-27T09:14:16Z</dcterms:created>
  <dcterms:modified xsi:type="dcterms:W3CDTF">2025-12-30T09:45:26Z</dcterms:modified>
  <cp:category/>
</cp:coreProperties>
</file>